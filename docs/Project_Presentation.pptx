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7" r:id="rId10"/>
    <p:sldId id="263" r:id="rId11"/>
    <p:sldId id="264" r:id="rId12"/>
    <p:sldId id="265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1762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Implementation and Enhancement of MobileNetV2-CBAM for UAV-based Fire Detection</a:t>
            </a:r>
            <a:br>
              <a:rPr lang="en-US" dirty="0"/>
            </a:b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Author: Prattay Roy Chowdhury</a:t>
            </a:r>
          </a:p>
          <a:p>
            <a:r>
              <a:t>Date: February 10,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Problem Statement &amp;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1000"/>
              </a:spcAft>
              <a:defRPr sz="2000"/>
            </a:pPr>
            <a:r>
              <a:t>Problem: Forest fires are devastating, and traditional detection (satellites) is slow.</a:t>
            </a:r>
          </a:p>
          <a:p>
            <a:pPr>
              <a:spcAft>
                <a:spcPts val="1000"/>
              </a:spcAft>
              <a:defRPr sz="2000"/>
            </a:pPr>
            <a:r>
              <a:t>Challenge: Lightweight UAV models struggle with false positives from smoke and fog.</a:t>
            </a:r>
          </a:p>
          <a:p>
            <a:pPr>
              <a:spcAft>
                <a:spcPts val="1000"/>
              </a:spcAft>
              <a:defRPr sz="2000"/>
            </a:pPr>
            <a:r>
              <a:t>Objective: Build a robust, real-time fire detection system for edge devices.</a:t>
            </a:r>
          </a:p>
          <a:p>
            <a:pPr>
              <a:spcAft>
                <a:spcPts val="1000"/>
              </a:spcAft>
              <a:defRPr sz="2000"/>
            </a:pPr>
            <a:r>
              <a:t>Key Goal: Solve the 'Generalization Gap' identified in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Literature Review &amp; Research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1000"/>
              </a:spcAft>
              <a:defRPr sz="2000"/>
            </a:pPr>
            <a:r>
              <a:t>Reference Paper: 'A lightweight CNN model for UAV-based image classification' (Soft Computing, 2025).</a:t>
            </a:r>
          </a:p>
          <a:p>
            <a:pPr>
              <a:spcAft>
                <a:spcPts val="1000"/>
              </a:spcAft>
              <a:defRPr sz="2000"/>
            </a:pPr>
            <a:r>
              <a:t>Base Model: MobileNetV2 (Chosen for efficiency).</a:t>
            </a:r>
          </a:p>
          <a:p>
            <a:pPr>
              <a:spcAft>
                <a:spcPts val="1000"/>
              </a:spcAft>
              <a:defRPr sz="2000"/>
            </a:pPr>
            <a:r>
              <a:t>Identified Gap (Page 14): 'Most error-prone fire images contain strong smoke.'</a:t>
            </a:r>
          </a:p>
          <a:p>
            <a:pPr>
              <a:spcAft>
                <a:spcPts val="1000"/>
              </a:spcAft>
              <a:defRPr sz="2000"/>
            </a:pPr>
            <a:r>
              <a:t>Our Hypothesis: Integrating Attention Mechanisms (CBAM) + Domain Adaptation will fix this.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Architecture: MobileNetV2-CBAM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743200"/>
            <a:ext cx="13716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Input Image</a:t>
            </a:r>
          </a:p>
          <a:p>
            <a:r>
              <a:t>(224x224)</a:t>
            </a:r>
          </a:p>
        </p:txBody>
      </p:sp>
      <p:sp>
        <p:nvSpPr>
          <p:cNvPr id="4" name="Right Arrow 3"/>
          <p:cNvSpPr/>
          <p:nvPr/>
        </p:nvSpPr>
        <p:spPr>
          <a:xfrm>
            <a:off x="1828800" y="3108960"/>
            <a:ext cx="457200" cy="1828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286000" y="2743200"/>
            <a:ext cx="1371600" cy="914400"/>
          </a:xfrm>
          <a:prstGeom prst="rect">
            <a:avLst/>
          </a:prstGeom>
          <a:solidFill>
            <a:srgbClr val="6495E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MobileNetV2</a:t>
            </a:r>
          </a:p>
          <a:p>
            <a:r>
              <a:t>(Features)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657600" y="3108960"/>
            <a:ext cx="457200" cy="1828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0" y="2743200"/>
            <a:ext cx="1371600" cy="914400"/>
          </a:xfrm>
          <a:prstGeom prst="rect">
            <a:avLst/>
          </a:prstGeom>
          <a:solidFill>
            <a:srgbClr val="FF7F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CBAM</a:t>
            </a:r>
          </a:p>
          <a:p>
            <a:r>
              <a:t>(Attention)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486400" y="3108960"/>
            <a:ext cx="457200" cy="1828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0" y="2743200"/>
            <a:ext cx="13716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Classifier</a:t>
            </a:r>
          </a:p>
          <a:p>
            <a:r>
              <a:t>(Fire / No Fire)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CBAM Mechanism: 1. Channel Attention (What?)  2. Spatial Attention (Where?)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Technical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1000"/>
              </a:spcAft>
              <a:defRPr sz="2000"/>
            </a:pPr>
            <a:r>
              <a:t>Frameworks: PyTorch (ML), FastAPI (Backend), Next.js (Dashboard).</a:t>
            </a:r>
          </a:p>
          <a:p>
            <a:pPr>
              <a:spcAft>
                <a:spcPts val="1000"/>
              </a:spcAft>
              <a:defRPr sz="2000"/>
            </a:pPr>
            <a:r>
              <a:t>Hardware: Optimized for NVIDIA RTX 3050 (GPU Accelerated).</a:t>
            </a:r>
          </a:p>
          <a:p>
            <a:pPr>
              <a:spcAft>
                <a:spcPts val="1000"/>
              </a:spcAft>
              <a:defRPr sz="2000"/>
            </a:pPr>
            <a:r>
              <a:t>Key Features:</a:t>
            </a:r>
          </a:p>
          <a:p>
            <a:pPr>
              <a:spcAft>
                <a:spcPts val="1000"/>
              </a:spcAft>
              <a:defRPr sz="2000"/>
            </a:pPr>
            <a:r>
              <a:t>- Real-time Inference via API.</a:t>
            </a:r>
          </a:p>
          <a:p>
            <a:pPr>
              <a:spcAft>
                <a:spcPts val="1000"/>
              </a:spcAft>
              <a:defRPr sz="2000"/>
            </a:pPr>
            <a:r>
              <a:t>- Grad-CAM Visualization for Explainability.</a:t>
            </a:r>
          </a:p>
          <a:p>
            <a:pPr>
              <a:spcAft>
                <a:spcPts val="1000"/>
              </a:spcAft>
              <a:defRPr sz="2000"/>
            </a:pPr>
            <a:r>
              <a:t>- Simple Web Interface for UAV Operators.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Results &amp; Comparative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1000"/>
              </a:spcAft>
              <a:defRPr sz="2000"/>
            </a:pPr>
            <a:r>
              <a:t>Baseline (MobileNetV2): Failed on smoky Kaggle dataset (48.4% Accuracy).</a:t>
            </a:r>
          </a:p>
          <a:p>
            <a:pPr>
              <a:spcAft>
                <a:spcPts val="1000"/>
              </a:spcAft>
              <a:defRPr sz="2000"/>
            </a:pPr>
            <a:r>
              <a:t>Proposed Solution (MobileNetV2-CBAM + DA): Achieved 95.8% Accuracy.</a:t>
            </a:r>
          </a:p>
          <a:p>
            <a:pPr>
              <a:spcAft>
                <a:spcPts val="1000"/>
              </a:spcAft>
              <a:defRPr sz="2000"/>
            </a:pPr>
            <a:r>
              <a:t>Improvement: +47.4% boost in generalization.</a:t>
            </a:r>
          </a:p>
          <a:p>
            <a:pPr>
              <a:spcAft>
                <a:spcPts val="1000"/>
              </a:spcAft>
              <a:defRPr sz="2000"/>
            </a:pPr>
            <a:r>
              <a:t>Conclusion: Domain Adaptation and Attention solve the smoke confusion issue.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Visualizations (Demo)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6126162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[Insert Screenshot of Dashboard Here]</a:t>
            </a:r>
          </a:p>
          <a:p>
            <a:r>
              <a:t>[Insert Grad-CAM Heatmap Here]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D8A5B3-22A8-5467-0485-55142E5AC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12" y="1271187"/>
            <a:ext cx="8638375" cy="40769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3413C-0291-7CA7-4C98-618B9D08C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1408A-8462-A402-C2F5-0A997E7F8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Visualizations (Demo)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BE1F24-A518-5717-7F14-2F6426CF3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7651"/>
            <a:ext cx="9144000" cy="5392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2824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DDDA0-2C77-31AC-70F8-EC7575F2D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3829F-41D6-555B-EC27-DE7D303A0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Visualizations (Demo)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A42806-DB46-8D15-B5D2-00D1518B3D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32357"/>
            <a:ext cx="9144000" cy="4090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6994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Future Work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1000"/>
              </a:spcAft>
              <a:defRPr sz="2000"/>
            </a:pPr>
            <a:r>
              <a:t>1. Deployment: Port to NVIDIA Jetson Nano using TensorRT.</a:t>
            </a:r>
          </a:p>
          <a:p>
            <a:pPr>
              <a:spcAft>
                <a:spcPts val="1000"/>
              </a:spcAft>
              <a:defRPr sz="2000"/>
            </a:pPr>
            <a:r>
              <a:t>2. Data: Collect Night-time and Foggy Fire images.</a:t>
            </a:r>
          </a:p>
          <a:p>
            <a:pPr>
              <a:spcAft>
                <a:spcPts val="1000"/>
              </a:spcAft>
              <a:defRPr sz="2000"/>
            </a:pPr>
            <a:r>
              <a:t>3. Integration: Connect directly to drone flight controller (Pixhawk).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1000"/>
              </a:spcAft>
              <a:defRPr sz="2000"/>
            </a:pPr>
            <a:r>
              <a:t>We successfully enhanced MobileNetV2 for robust fire detection.</a:t>
            </a:r>
          </a:p>
          <a:p>
            <a:pPr>
              <a:spcAft>
                <a:spcPts val="1000"/>
              </a:spcAft>
              <a:defRPr sz="2000"/>
            </a:pPr>
            <a:r>
              <a:t>Identified and fixed the critical vulnerability to smoke.</a:t>
            </a:r>
          </a:p>
          <a:p>
            <a:pPr>
              <a:spcAft>
                <a:spcPts val="1000"/>
              </a:spcAft>
              <a:defRPr sz="2000"/>
            </a:pPr>
            <a:r>
              <a:t>Delivered a deployable, real-time system suitable for UAVs.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Suggested Journals (Q2/Q3)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spcAft>
                <a:spcPts val="1000"/>
              </a:spcAft>
              <a:buNone/>
              <a:defRPr sz="2000"/>
            </a:pPr>
            <a:r>
              <a:rPr dirty="0"/>
              <a:t>1. Int. Journal of Machine Learning and Cybernetics (Springer) - Q2</a:t>
            </a:r>
          </a:p>
          <a:p>
            <a:pPr marL="0" indent="0">
              <a:spcAft>
                <a:spcPts val="1000"/>
              </a:spcAft>
              <a:buNone/>
              <a:defRPr sz="2000"/>
            </a:pPr>
            <a:r>
              <a:rPr dirty="0"/>
              <a:t>2. Journal of the Optical Society of America A - Q2</a:t>
            </a:r>
          </a:p>
          <a:p>
            <a:pPr marL="0" indent="0">
              <a:spcAft>
                <a:spcPts val="1000"/>
              </a:spcAft>
              <a:buNone/>
              <a:defRPr sz="2000"/>
            </a:pPr>
            <a:r>
              <a:rPr dirty="0"/>
              <a:t>3. Int. Journal of Computer Networks and Applications - Q3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427</Words>
  <Application>Microsoft Office PowerPoint</Application>
  <PresentationFormat>On-screen Show (4:3)</PresentationFormat>
  <Paragraphs>59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Implementation and Enhancement of MobileNetV2-CBAM for UAV-based Fire Detection </vt:lpstr>
      <vt:lpstr>Problem Statement &amp; Objective</vt:lpstr>
      <vt:lpstr>Literature Review &amp; Research Gap</vt:lpstr>
      <vt:lpstr>Proposed Architecture: MobileNetV2-CBAM</vt:lpstr>
      <vt:lpstr>Technical Implementation</vt:lpstr>
      <vt:lpstr>Results &amp; Comparative Analysis</vt:lpstr>
      <vt:lpstr>Visualizations (Demo)</vt:lpstr>
      <vt:lpstr>Visualizations (Demo)</vt:lpstr>
      <vt:lpstr>Visualizations (Demo)</vt:lpstr>
      <vt:lpstr>Future Work &amp; Recommendations</vt:lpstr>
      <vt:lpstr>Conclusion</vt:lpstr>
      <vt:lpstr>Suggested Journals (Q2/Q3)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Prattay Roy Chowdhury</cp:lastModifiedBy>
  <cp:revision>2</cp:revision>
  <dcterms:created xsi:type="dcterms:W3CDTF">2013-01-27T09:14:16Z</dcterms:created>
  <dcterms:modified xsi:type="dcterms:W3CDTF">2026-02-10T15:23:18Z</dcterms:modified>
  <cp:category/>
</cp:coreProperties>
</file>